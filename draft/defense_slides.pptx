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Relevansi Rasio Fundamental di Era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Sektor Teknologi BEI 2019-2025</a:t>
            </a:r>
          </a:p>
          <a:p>
            <a:pPr lvl="0" indent="0" marL="0">
              <a:buNone/>
            </a:pPr>
            <a:r>
              <a:rPr/>
              <a:t>Magister Akuntansi</a:t>
            </a:r>
            <a:br/>
            <a:r>
              <a:rPr/>
              <a:t>[Nama Mahasiswa] - [NIM]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Sektor teknologi BEI tumbuh cepat dan volatil.</a:t>
            </a:r>
          </a:p>
          <a:p>
            <a:pPr lvl="0"/>
            <a:r>
              <a:rPr/>
              <a:t>Narasi AI/digital disclosure meningkat pasca 2023.</a:t>
            </a:r>
          </a:p>
          <a:p>
            <a:pPr lvl="0"/>
            <a:r>
              <a:rPr/>
              <a:t>Hasil riset rasio fundamental pada sektor ini masih tidak konsisten.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Rumusan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Apakah rasio fundamental memengaruhi </a:t>
            </a:r>
            <a:r>
              <a:rPr>
                <a:latin typeface="Courier"/>
              </a:rPr>
              <a:t>PRICE</a:t>
            </a:r>
            <a:r>
              <a:rPr/>
              <a:t>, </a:t>
            </a:r>
            <a:r>
              <a:rPr>
                <a:latin typeface="Courier"/>
              </a:rPr>
              <a:t>RET</a:t>
            </a:r>
            <a:r>
              <a:rPr/>
              <a:t>, </a:t>
            </a:r>
            <a:r>
              <a:rPr>
                <a:latin typeface="Courier"/>
              </a:rPr>
              <a:t>TQ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/>
              <a:t>Apakah </a:t>
            </a:r>
            <a:r>
              <a:rPr>
                <a:latin typeface="Courier"/>
              </a:rPr>
              <a:t>AI Disclosure Index</a:t>
            </a:r>
            <a:r>
              <a:rPr/>
              <a:t> memoderasi hubungan tersebut?</a:t>
            </a:r>
          </a:p>
          <a:p>
            <a:pPr lvl="0" indent="-342900" marL="342900">
              <a:buAutoNum type="arabicPeriod"/>
            </a:pPr>
            <a:r>
              <a:rPr/>
              <a:t>Apakah terjadi perubahan sensitivitas pasca 2023 (</a:t>
            </a:r>
            <a:r>
              <a:rPr>
                <a:latin typeface="Courier"/>
              </a:rPr>
              <a:t>DGENAI</a:t>
            </a:r>
            <a:r>
              <a:rPr/>
              <a:t>)?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Tujuan dan Kontribusi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Uji pengaruh rasio fundamental multi-dependen.</a:t>
            </a:r>
          </a:p>
          <a:p>
            <a:pPr lvl="0"/>
            <a:r>
              <a:rPr/>
              <a:t>Uji moderasi AI disclosure.</a:t>
            </a:r>
          </a:p>
          <a:p>
            <a:pPr lvl="0"/>
            <a:r>
              <a:rPr/>
              <a:t>Uji structural break era GenAI.</a:t>
            </a:r>
          </a:p>
          <a:p>
            <a:pPr lvl="0"/>
            <a:r>
              <a:rPr/>
              <a:t>Sediakan pipeline analisis reproducible.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Kerangka Variabel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Dependen: </a:t>
            </a:r>
            <a:r>
              <a:rPr>
                <a:latin typeface="Courier"/>
              </a:rPr>
              <a:t>PRICE</a:t>
            </a:r>
            <a:r>
              <a:rPr/>
              <a:t>, </a:t>
            </a:r>
            <a:r>
              <a:rPr>
                <a:latin typeface="Courier"/>
              </a:rPr>
              <a:t>RET</a:t>
            </a:r>
            <a:r>
              <a:rPr/>
              <a:t>, </a:t>
            </a:r>
            <a:r>
              <a:rPr>
                <a:latin typeface="Courier"/>
              </a:rPr>
              <a:t>TQ</a:t>
            </a:r>
          </a:p>
          <a:p>
            <a:pPr lvl="0"/>
            <a:r>
              <a:rPr/>
              <a:t>Independen: </a:t>
            </a:r>
            <a:r>
              <a:rPr>
                <a:latin typeface="Courier"/>
              </a:rPr>
              <a:t>ROA</a:t>
            </a:r>
            <a:r>
              <a:rPr/>
              <a:t>, </a:t>
            </a:r>
            <a:r>
              <a:rPr>
                <a:latin typeface="Courier"/>
              </a:rPr>
              <a:t>ROE</a:t>
            </a:r>
            <a:r>
              <a:rPr/>
              <a:t>, </a:t>
            </a:r>
            <a:r>
              <a:rPr>
                <a:latin typeface="Courier"/>
              </a:rPr>
              <a:t>NPM</a:t>
            </a:r>
            <a:r>
              <a:rPr/>
              <a:t>, </a:t>
            </a:r>
            <a:r>
              <a:rPr>
                <a:latin typeface="Courier"/>
              </a:rPr>
              <a:t>CR</a:t>
            </a:r>
            <a:r>
              <a:rPr/>
              <a:t>, </a:t>
            </a:r>
            <a:r>
              <a:rPr>
                <a:latin typeface="Courier"/>
              </a:rPr>
              <a:t>DER</a:t>
            </a:r>
            <a:r>
              <a:rPr/>
              <a:t>, </a:t>
            </a:r>
            <a:r>
              <a:rPr>
                <a:latin typeface="Courier"/>
              </a:rPr>
              <a:t>TATO</a:t>
            </a:r>
            <a:r>
              <a:rPr/>
              <a:t>, </a:t>
            </a:r>
            <a:r>
              <a:rPr>
                <a:latin typeface="Courier"/>
              </a:rPr>
              <a:t>EPS</a:t>
            </a:r>
          </a:p>
          <a:p>
            <a:pPr lvl="0"/>
            <a:r>
              <a:rPr/>
              <a:t>Moderasi: </a:t>
            </a:r>
            <a:r>
              <a:rPr>
                <a:latin typeface="Courier"/>
              </a:rPr>
              <a:t>AID</a:t>
            </a:r>
            <a:r>
              <a:rPr/>
              <a:t>, </a:t>
            </a:r>
            <a:r>
              <a:rPr>
                <a:latin typeface="Courier"/>
              </a:rPr>
              <a:t>DGENAI</a:t>
            </a:r>
          </a:p>
          <a:p>
            <a:pPr lvl="0"/>
            <a:r>
              <a:rPr/>
              <a:t>Kontrol: </a:t>
            </a:r>
            <a:r>
              <a:rPr>
                <a:latin typeface="Courier"/>
              </a:rPr>
              <a:t>SIZE</a:t>
            </a:r>
            <a:r>
              <a:rPr/>
              <a:t>, </a:t>
            </a:r>
            <a:r>
              <a:rPr>
                <a:latin typeface="Courier"/>
              </a:rPr>
              <a:t>GROWTH</a:t>
            </a:r>
            <a:r>
              <a:rPr/>
              <a:t>, </a:t>
            </a:r>
            <a:r>
              <a:rPr>
                <a:latin typeface="Courier"/>
              </a:rPr>
              <a:t>AGE</a:t>
            </a:r>
            <a:r>
              <a:rPr/>
              <a:t>, </a:t>
            </a:r>
            <a:r>
              <a:rPr>
                <a:latin typeface="Courier"/>
              </a:rPr>
              <a:t>VOL</a:t>
            </a:r>
            <a:r>
              <a:rPr/>
              <a:t>, </a:t>
            </a:r>
            <a:r>
              <a:rPr>
                <a:latin typeface="Courier"/>
              </a:rPr>
              <a:t>II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dan Sampel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Populasi: emiten sektor teknologi BEI.</a:t>
            </a:r>
          </a:p>
          <a:p>
            <a:pPr lvl="0"/>
            <a:r>
              <a:rPr/>
              <a:t>Periode: 2019-2025.</a:t>
            </a:r>
          </a:p>
          <a:p>
            <a:pPr lvl="0"/>
            <a:r>
              <a:rPr/>
              <a:t>Data sekunder: laporan keuangan, annual report, harga saham.</a:t>
            </a:r>
          </a:p>
          <a:p>
            <a:pPr lvl="0"/>
            <a:r>
              <a:rPr/>
              <a:t>Sampling: purposive berdasarkan kelengkapan data.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Panel regression (baseline, moderation, structural break).</a:t>
            </a:r>
          </a:p>
          <a:p>
            <a:pPr lvl="0"/>
            <a:r>
              <a:rPr/>
              <a:t>Uji asumsi: deskriptif, korelasi, VIF, BP, DW.</a:t>
            </a:r>
          </a:p>
          <a:p>
            <a:pPr lvl="0"/>
            <a:r>
              <a:rPr/>
              <a:t>Model selection: pooled/FE/RE (dengan fallback teknis).</a:t>
            </a:r>
          </a:p>
          <a:p>
            <a:pPr lvl="0"/>
            <a:r>
              <a:rPr/>
              <a:t>Robustness: subsample, winsorize, exclude 2020, alt proxy PBV.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Otomasi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Seleksi sampel: </a:t>
            </a:r>
            <a:r>
              <a:rPr>
                <a:latin typeface="Courier"/>
              </a:rPr>
              <a:t>scripts/ingest_idx_population.ps1</a:t>
            </a:r>
            <a:r>
              <a:rPr/>
              <a:t>, </a:t>
            </a:r>
            <a:r>
              <a:rPr>
                <a:latin typeface="Courier"/>
              </a:rPr>
              <a:t>scripts/estimate_sample.ps1</a:t>
            </a:r>
          </a:p>
          <a:p>
            <a:pPr lvl="0"/>
            <a:r>
              <a:rPr/>
              <a:t>Build dataset: </a:t>
            </a:r>
            <a:r>
              <a:rPr>
                <a:latin typeface="Courier"/>
              </a:rPr>
              <a:t>scripts/build_panel_dataset.ps1</a:t>
            </a:r>
          </a:p>
          <a:p>
            <a:pPr lvl="0"/>
            <a:r>
              <a:rPr/>
              <a:t>EViews runner: </a:t>
            </a:r>
            <a:r>
              <a:rPr>
                <a:latin typeface="Courier"/>
              </a:rPr>
              <a:t>scripts/eviews_run.ps1</a:t>
            </a:r>
          </a:p>
          <a:p>
            <a:pPr lvl="0"/>
            <a:r>
              <a:rPr/>
              <a:t>Robustness: </a:t>
            </a:r>
            <a:r>
              <a:rPr>
                <a:latin typeface="Courier"/>
              </a:rPr>
              <a:t>scripts/robustness_checks.ps1</a:t>
            </a:r>
          </a:p>
          <a:p>
            <a:pPr lvl="0"/>
            <a:r>
              <a:rPr/>
              <a:t>Hipotesis: </a:t>
            </a:r>
            <a:r>
              <a:rPr>
                <a:latin typeface="Courier"/>
              </a:rPr>
              <a:t>scripts/hypothesis_decision.ps1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Hasil Sementara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Draft BAB I-V sudah disusun dengan template kampus.</a:t>
            </a:r>
          </a:p>
          <a:p>
            <a:pPr lvl="0"/>
            <a:r>
              <a:rPr/>
              <a:t>Uji statistik dan robustness pipeline sudah tersedia.</a:t>
            </a:r>
          </a:p>
          <a:p>
            <a:pPr lvl="0"/>
            <a:r>
              <a:rPr/>
              <a:t>Keputusan hipotesis final menunggu hasil regresi dataset lengkap.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Nilai Tambah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Integrasi fundamental + AI disclosure + regime change.</a:t>
            </a:r>
          </a:p>
          <a:p>
            <a:pPr lvl="0"/>
            <a:r>
              <a:rPr/>
              <a:t>Multi-output market metrics (</a:t>
            </a:r>
            <a:r>
              <a:rPr>
                <a:latin typeface="Courier"/>
              </a:rPr>
              <a:t>PRICE</a:t>
            </a:r>
            <a:r>
              <a:rPr/>
              <a:t>, </a:t>
            </a:r>
            <a:r>
              <a:rPr>
                <a:latin typeface="Courier"/>
              </a:rPr>
              <a:t>RET</a:t>
            </a:r>
            <a:r>
              <a:rPr/>
              <a:t>, </a:t>
            </a:r>
            <a:r>
              <a:rPr>
                <a:latin typeface="Courier"/>
              </a:rPr>
              <a:t>TQ</a:t>
            </a:r>
            <a:r>
              <a:rPr/>
              <a:t>) dalam satu desain.</a:t>
            </a:r>
          </a:p>
          <a:p>
            <a:pPr lvl="0"/>
            <a:r>
              <a:rPr/>
              <a:t>Reproducible workflow untuk audit trail akademik.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Keterbatasan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Complete-case masih terbatas pada data uji/template.</a:t>
            </a:r>
          </a:p>
          <a:p>
            <a:pPr lvl="0"/>
            <a:r>
              <a:rPr/>
              <a:t>Beberapa model sensitif terhadap collinearity dan ukuran sampel.</a:t>
            </a:r>
          </a:p>
          <a:p>
            <a:pPr lvl="0"/>
            <a:r>
              <a:rPr/>
              <a:t>Estimasi final perlu dataset panel lengkap 2019-2025.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Rencana Penyelesaian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Finalisasi dataset panel lengkap.</a:t>
            </a:r>
          </a:p>
          <a:p>
            <a:pPr lvl="0" indent="-342900" marL="342900">
              <a:buAutoNum type="arabicPeriod"/>
            </a:pPr>
            <a:r>
              <a:rPr/>
              <a:t>Rerun 9 model utama + robustness.</a:t>
            </a:r>
          </a:p>
          <a:p>
            <a:pPr lvl="0" indent="-342900" marL="342900">
              <a:buAutoNum type="arabicPeriod"/>
            </a:pPr>
            <a:r>
              <a:rPr/>
              <a:t>Sinkronisasi BAB IV-V dengan output final.</a:t>
            </a:r>
          </a:p>
          <a:p>
            <a:pPr lvl="0" indent="-342900" marL="342900">
              <a:buAutoNum type="arabicPeriod"/>
            </a:pPr>
            <a:r>
              <a:rPr/>
              <a:t>Final check sitasi dan format kampus.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Antisipasi Pertanyaan Ujian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Mengapa sektor teknologi?</a:t>
            </a:r>
          </a:p>
          <a:p>
            <a:pPr lvl="0"/>
            <a:r>
              <a:rPr/>
              <a:t>Mengapa cutoff 2023?</a:t>
            </a:r>
          </a:p>
          <a:p>
            <a:pPr lvl="0"/>
            <a:r>
              <a:rPr/>
              <a:t>Bagaimana validitas AI disclosure index?</a:t>
            </a:r>
          </a:p>
          <a:p>
            <a:pPr lvl="0"/>
            <a:r>
              <a:rPr/>
              <a:t>Bagaimana menangani sampel kecil dan endogeneity?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Terima kasih.</a:t>
            </a:r>
            <a:br/>
            <a:r>
              <a:rPr/>
              <a:t>Diskusi dan masukan sangat diharapkan untuk penyempurnaan tesis.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2026-02-27T09:31:24Z</dcterms:created>
  <dcterms:modified xsi:type="dcterms:W3CDTF">2026-02-27T09:31:24Z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