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Relevansi Rasio Fundamental di Era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Sektor Teknologi BEI 2019-2025</a:t>
            </a:r>
          </a:p>
          <a:p>
            <a:pPr lvl="0" indent="0" marL="0">
              <a:buNone/>
            </a:pPr>
            <a:r>
              <a:rPr/>
              <a:t>Magister Akuntansi</a:t>
            </a:r>
            <a:br/>
            <a:r>
              <a:rPr/>
              <a:t>[Nama Mahasiswa] - [NIM]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1) Masalah Inti (1 menit)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Rasio fundamental sering dipakai untuk valuasi.</a:t>
            </a:r>
          </a:p>
          <a:p>
            <a:pPr lvl="0"/>
            <a:r>
              <a:rPr/>
              <a:t>Di sektor teknologi, hasil empiris masih inkonsisten.</a:t>
            </a:r>
          </a:p>
          <a:p>
            <a:pPr lvl="0"/>
            <a:r>
              <a:rPr/>
              <a:t>Era AI (post-2023) berpotensi mengubah cara pasar membaca sinyal fundamental.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2) Tujuan Penelitian (1 menit)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Uji pengaruh rasio fundamental pada </a:t>
            </a:r>
            <a:r>
              <a:rPr>
                <a:latin typeface="Courier"/>
              </a:rPr>
              <a:t>PRICE</a:t>
            </a:r>
            <a:r>
              <a:rPr/>
              <a:t>, </a:t>
            </a:r>
            <a:r>
              <a:rPr>
                <a:latin typeface="Courier"/>
              </a:rPr>
              <a:t>RET</a:t>
            </a:r>
            <a:r>
              <a:rPr/>
              <a:t>, </a:t>
            </a:r>
            <a:r>
              <a:rPr>
                <a:latin typeface="Courier"/>
              </a:rPr>
              <a:t>TQ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/>
              <a:t>Uji moderasi </a:t>
            </a:r>
            <a:r>
              <a:rPr>
                <a:latin typeface="Courier"/>
              </a:rPr>
              <a:t>AI Disclosure Index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/>
              <a:t>Uji perubahan koefisien pasca-2023 (</a:t>
            </a:r>
            <a:r>
              <a:rPr>
                <a:latin typeface="Courier"/>
              </a:rPr>
              <a:t>DGENAI</a:t>
            </a:r>
            <a:r>
              <a:rPr/>
              <a:t>).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3) Kebaruan (1 menit)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Multi-dependen dalam satu desain.</a:t>
            </a:r>
          </a:p>
          <a:p>
            <a:pPr lvl="0"/>
            <a:r>
              <a:rPr/>
              <a:t>Moderasi AI disclosure + structural break post-2023.</a:t>
            </a:r>
          </a:p>
          <a:p>
            <a:pPr lvl="0"/>
            <a:r>
              <a:rPr/>
              <a:t>Pipeline reproducible dari data sampai keputusan hipotesis.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4) Data dan Sampel (1.5 menit)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Objek: emiten sektor teknologi BEI.</a:t>
            </a:r>
          </a:p>
          <a:p>
            <a:pPr lvl="0"/>
            <a:r>
              <a:rPr/>
              <a:t>Periode: 2019-2025.</a:t>
            </a:r>
          </a:p>
          <a:p>
            <a:pPr lvl="0"/>
            <a:r>
              <a:rPr/>
              <a:t>Data: laporan keuangan, annual report, harga saham.</a:t>
            </a:r>
          </a:p>
          <a:p>
            <a:pPr lvl="0"/>
            <a:r>
              <a:rPr/>
              <a:t>Sampling: purposive, kriteria kelengkapan data.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5) Variabel dan Model (2 menit)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Dependen: </a:t>
            </a:r>
            <a:r>
              <a:rPr>
                <a:latin typeface="Courier"/>
              </a:rPr>
              <a:t>PRICE</a:t>
            </a:r>
            <a:r>
              <a:rPr/>
              <a:t>, </a:t>
            </a:r>
            <a:r>
              <a:rPr>
                <a:latin typeface="Courier"/>
              </a:rPr>
              <a:t>RET</a:t>
            </a:r>
            <a:r>
              <a:rPr/>
              <a:t>, </a:t>
            </a:r>
            <a:r>
              <a:rPr>
                <a:latin typeface="Courier"/>
              </a:rPr>
              <a:t>TQ</a:t>
            </a:r>
          </a:p>
          <a:p>
            <a:pPr lvl="0"/>
            <a:r>
              <a:rPr/>
              <a:t>Independen: </a:t>
            </a:r>
            <a:r>
              <a:rPr>
                <a:latin typeface="Courier"/>
              </a:rPr>
              <a:t>ROA</a:t>
            </a:r>
            <a:r>
              <a:rPr/>
              <a:t>, </a:t>
            </a:r>
            <a:r>
              <a:rPr>
                <a:latin typeface="Courier"/>
              </a:rPr>
              <a:t>ROE</a:t>
            </a:r>
            <a:r>
              <a:rPr/>
              <a:t>, </a:t>
            </a:r>
            <a:r>
              <a:rPr>
                <a:latin typeface="Courier"/>
              </a:rPr>
              <a:t>NPM</a:t>
            </a:r>
            <a:r>
              <a:rPr/>
              <a:t>, </a:t>
            </a:r>
            <a:r>
              <a:rPr>
                <a:latin typeface="Courier"/>
              </a:rPr>
              <a:t>CR</a:t>
            </a:r>
            <a:r>
              <a:rPr/>
              <a:t>, </a:t>
            </a:r>
            <a:r>
              <a:rPr>
                <a:latin typeface="Courier"/>
              </a:rPr>
              <a:t>DER</a:t>
            </a:r>
            <a:r>
              <a:rPr/>
              <a:t>, </a:t>
            </a:r>
            <a:r>
              <a:rPr>
                <a:latin typeface="Courier"/>
              </a:rPr>
              <a:t>TATO</a:t>
            </a:r>
            <a:r>
              <a:rPr/>
              <a:t>, </a:t>
            </a:r>
            <a:r>
              <a:rPr>
                <a:latin typeface="Courier"/>
              </a:rPr>
              <a:t>EPS</a:t>
            </a:r>
          </a:p>
          <a:p>
            <a:pPr lvl="0"/>
            <a:r>
              <a:rPr/>
              <a:t>Moderasi: </a:t>
            </a:r>
            <a:r>
              <a:rPr>
                <a:latin typeface="Courier"/>
              </a:rPr>
              <a:t>AID</a:t>
            </a:r>
            <a:r>
              <a:rPr/>
              <a:t>, </a:t>
            </a:r>
            <a:r>
              <a:rPr>
                <a:latin typeface="Courier"/>
              </a:rPr>
              <a:t>DGENAI</a:t>
            </a:r>
          </a:p>
          <a:p>
            <a:pPr lvl="0"/>
            <a:r>
              <a:rPr/>
              <a:t>Kontrol: </a:t>
            </a:r>
            <a:r>
              <a:rPr>
                <a:latin typeface="Courier"/>
              </a:rPr>
              <a:t>SIZE</a:t>
            </a:r>
            <a:r>
              <a:rPr/>
              <a:t>, </a:t>
            </a:r>
            <a:r>
              <a:rPr>
                <a:latin typeface="Courier"/>
              </a:rPr>
              <a:t>GROWTH</a:t>
            </a:r>
            <a:r>
              <a:rPr/>
              <a:t>, </a:t>
            </a:r>
            <a:r>
              <a:rPr>
                <a:latin typeface="Courier"/>
              </a:rPr>
              <a:t>AGE</a:t>
            </a:r>
            <a:r>
              <a:rPr/>
              <a:t>, </a:t>
            </a:r>
            <a:r>
              <a:rPr>
                <a:latin typeface="Courier"/>
              </a:rPr>
              <a:t>VOL</a:t>
            </a:r>
            <a:r>
              <a:rPr/>
              <a:t>, </a:t>
            </a:r>
            <a:r>
              <a:rPr>
                <a:latin typeface="Courier"/>
              </a:rPr>
              <a:t>II</a:t>
            </a:r>
          </a:p>
          <a:p>
            <a:pPr lvl="0" indent="0" marL="0">
              <a:buNone/>
            </a:pPr>
            <a:r>
              <a:rPr/>
              <a:t>Model: - Baseline - Moderasi AID - Structural break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6) Pipeline Analisis (1.5 menit)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Seleksi sampel -&gt; build panel dataset -&gt; EViews regression.</a:t>
            </a:r>
          </a:p>
          <a:p>
            <a:pPr lvl="0"/>
            <a:r>
              <a:rPr/>
              <a:t>Uji asumsi: VIF, BP, DW.</a:t>
            </a:r>
          </a:p>
          <a:p>
            <a:pPr lvl="0"/>
            <a:r>
              <a:rPr/>
              <a:t>Robustness: subsample, winsorize, exclude-2020, alt proxy PBV.</a:t>
            </a:r>
          </a:p>
          <a:p>
            <a:pPr lvl="0"/>
            <a:r>
              <a:rPr/>
              <a:t>Ringkasan keputusan hipotesis otomatis.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7) Hasil Sementara (2 menit)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Draft BAB I-V selesai dan sudah align template kampus.</a:t>
            </a:r>
          </a:p>
          <a:p>
            <a:pPr lvl="0"/>
            <a:r>
              <a:rPr/>
              <a:t>Pipeline analitik berjalan end-to-end.</a:t>
            </a:r>
          </a:p>
          <a:p>
            <a:pPr lvl="0"/>
            <a:r>
              <a:rPr/>
              <a:t>Hasil final inferensial menunggu dataset lengkap 2019-2025.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8) Isu Metodologis Kunci (1.5 menit)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Potensi collinearity antar rasio.</a:t>
            </a:r>
          </a:p>
          <a:p>
            <a:pPr lvl="0"/>
            <a:r>
              <a:rPr/>
              <a:t>Sensitivitas hasil pada ukuran sampel kecil.</a:t>
            </a:r>
          </a:p>
          <a:p>
            <a:pPr lvl="0"/>
            <a:r>
              <a:rPr/>
              <a:t>Perlu penekanan pada interpretasi hati-hati saat complete-case rendah.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9) Robustness Strategy (1.5 menit)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Split pre vs post.</a:t>
            </a:r>
          </a:p>
          <a:p>
            <a:pPr lvl="0"/>
            <a:r>
              <a:rPr/>
              <a:t>Winsorize 1/99 dan 5/95.</a:t>
            </a:r>
          </a:p>
          <a:p>
            <a:pPr lvl="0"/>
            <a:r>
              <a:rPr/>
              <a:t>Exclude 2020.</a:t>
            </a:r>
          </a:p>
          <a:p>
            <a:pPr lvl="0"/>
            <a:r>
              <a:rPr/>
              <a:t>Alt proxy PBV.</a:t>
            </a:r>
          </a:p>
          <a:p>
            <a:pPr lvl="0" indent="0" marL="0">
              <a:buNone/>
            </a:pPr>
            <a:r>
              <a:rPr/>
              <a:t>Tujuan: menguji kestabilan arah dan signifikansi koefisien.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10) Kontribusi Penelitian (1 menit)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Teoretis: value relevance di konteks AI disclosure.</a:t>
            </a:r>
          </a:p>
          <a:p>
            <a:pPr lvl="0"/>
            <a:r>
              <a:rPr/>
              <a:t>Praktis: panduan baca sinyal fundamental untuk investor.</a:t>
            </a:r>
          </a:p>
          <a:p>
            <a:pPr lvl="0"/>
            <a:r>
              <a:rPr/>
              <a:t>Metodologis: transparansi proses melalui workflow reproducible.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11) Rencana Finalisasi (1.5 menit)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Finalisasi panel dataset lengkap.</a:t>
            </a:r>
          </a:p>
          <a:p>
            <a:pPr lvl="0" indent="-342900" marL="342900">
              <a:buAutoNum type="arabicPeriod"/>
            </a:pPr>
            <a:r>
              <a:rPr/>
              <a:t>Rerun 9 model + robustness.</a:t>
            </a:r>
          </a:p>
          <a:p>
            <a:pPr lvl="0" indent="-342900" marL="342900">
              <a:buAutoNum type="arabicPeriod"/>
            </a:pPr>
            <a:r>
              <a:rPr/>
              <a:t>Finalisasi BAB IV-V dan daftar pustaka.</a:t>
            </a:r>
          </a:p>
          <a:p>
            <a:pPr lvl="0" indent="-342900" marL="342900">
              <a:buAutoNum type="arabicPeriod"/>
            </a:pPr>
            <a:r>
              <a:rPr/>
              <a:t>Revisi pembimbing -&gt; final draft.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12) Antisipasi Q&amp;A (1 menit)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Mengapa sektor teknologi?</a:t>
            </a:r>
          </a:p>
          <a:p>
            <a:pPr lvl="0"/>
            <a:r>
              <a:rPr/>
              <a:t>Mengapa cutoff 2023?</a:t>
            </a:r>
          </a:p>
          <a:p>
            <a:pPr lvl="0"/>
            <a:r>
              <a:rPr/>
              <a:t>Bagaimana validitas AID?</a:t>
            </a:r>
          </a:p>
          <a:p>
            <a:pPr lvl="0"/>
            <a:r>
              <a:rPr/>
              <a:t>Bagaimana mengatasi sampel kecil?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Penutup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Terima kasih.</a:t>
            </a:r>
            <a:br/>
            <a:r>
              <a:rPr/>
              <a:t>Masukan penguji sangat diharapkan untuk penyempurnaan tesis.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2026-02-27T09:46:16Z</dcterms:created>
  <dcterms:modified xsi:type="dcterms:W3CDTF">2026-02-27T09:46:16Z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